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 snapToObjects="1">
      <p:cViewPr>
        <p:scale>
          <a:sx n="111" d="100"/>
          <a:sy n="111" d="100"/>
        </p:scale>
        <p:origin x="1872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32898" cy="1470025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KEPCO </a:t>
            </a:r>
            <a:r>
              <a:rPr dirty="0" err="1"/>
              <a:t>화재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감지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GPU &amp; NPU 하이브리드 아키텍처</a:t>
            </a:r>
          </a:p>
          <a:p>
            <a:r>
              <a:t>Live Demo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시스템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프로젝트 목표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화재 및 안전 위험 감지 시스템 구축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워크스테이션 하드웨어 최적 활용 </a:t>
            </a:r>
            <a:r>
              <a:rPr lang="en-US" altLang="ko-KR" dirty="0"/>
              <a:t>(</a:t>
            </a:r>
            <a:r>
              <a:rPr lang="en" altLang="ko-KR" dirty="0"/>
              <a:t>GPU + NPU)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하드웨어 구성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GPU: </a:t>
            </a:r>
            <a:r>
              <a:rPr lang="ko-KR" altLang="en-US" dirty="0"/>
              <a:t>디스플레이 렌더링 및 시각화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(Rebellions ATOM): YOLOv11 </a:t>
            </a:r>
            <a:r>
              <a:rPr lang="ko-KR" altLang="en-US" dirty="0"/>
              <a:t>모델 추론 전용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Camera: USB </a:t>
            </a:r>
            <a:r>
              <a:rPr lang="ko-KR" altLang="en-US" dirty="0"/>
              <a:t>카메라 </a:t>
            </a:r>
            <a:r>
              <a:rPr lang="en-US" altLang="ko-KR" dirty="0"/>
              <a:t>(960</a:t>
            </a:r>
            <a:r>
              <a:rPr lang="en" altLang="ko-KR" dirty="0"/>
              <a:t>x540 @ 30 FPS)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주요 특징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처리</a:t>
            </a:r>
            <a:r>
              <a:rPr lang="en-US" altLang="ko-KR" dirty="0"/>
              <a:t>: 20-25 </a:t>
            </a:r>
            <a:r>
              <a:rPr lang="en" altLang="ko-KR" dirty="0"/>
              <a:t>FPS </a:t>
            </a:r>
            <a:r>
              <a:rPr lang="ko-KR" altLang="en-US" dirty="0"/>
              <a:t>달성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낮은 지연시간</a:t>
            </a:r>
            <a:r>
              <a:rPr lang="en-US" altLang="ko-KR" dirty="0"/>
              <a:t>: ~40-50</a:t>
            </a:r>
            <a:r>
              <a:rPr lang="en" altLang="ko-KR" dirty="0" err="1"/>
              <a:t>ms</a:t>
            </a:r>
            <a:r>
              <a:rPr lang="en" altLang="ko-KR" dirty="0"/>
              <a:t> end-to-end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9</a:t>
            </a:r>
            <a:r>
              <a:rPr lang="ko-KR" altLang="en-US" dirty="0"/>
              <a:t>가지 클래스 탐지</a:t>
            </a:r>
            <a:r>
              <a:rPr lang="en-US" altLang="ko-KR" dirty="0"/>
              <a:t>: </a:t>
            </a:r>
            <a:r>
              <a:rPr lang="ko-KR" altLang="en-US" dirty="0"/>
              <a:t>화재</a:t>
            </a:r>
            <a:r>
              <a:rPr lang="en-US" altLang="ko-KR" dirty="0"/>
              <a:t>, </a:t>
            </a:r>
            <a:r>
              <a:rPr lang="ko-KR" altLang="en-US" dirty="0"/>
              <a:t>연기</a:t>
            </a:r>
            <a:r>
              <a:rPr lang="en-US" altLang="ko-KR" dirty="0"/>
              <a:t>, </a:t>
            </a:r>
            <a:r>
              <a:rPr lang="ko-KR" altLang="en-US" dirty="0"/>
              <a:t>사람</a:t>
            </a:r>
            <a:r>
              <a:rPr lang="en-US" altLang="ko-KR" dirty="0"/>
              <a:t>, </a:t>
            </a:r>
            <a:r>
              <a:rPr lang="ko-KR" altLang="en-US" dirty="0"/>
              <a:t>안전장비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B5CA85-7F0F-421C-23B4-E0A59AA649A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 b="1">
                <a:solidFill>
                  <a:srgbClr val="003366"/>
                </a:solidFill>
              </a:defRPr>
            </a:pPr>
            <a:r>
              <a:rPr lang="ko-KR" altLang="en-US" dirty="0"/>
              <a:t>시스템 아키텍처 </a:t>
            </a:r>
            <a:r>
              <a:rPr lang="en-US" altLang="ko-KR" dirty="0"/>
              <a:t>- </a:t>
            </a:r>
            <a:r>
              <a:rPr lang="en" altLang="ko-KR" dirty="0"/>
              <a:t>GPU &amp; NPU </a:t>
            </a:r>
            <a:r>
              <a:rPr lang="ko-KR" altLang="en-US" dirty="0"/>
              <a:t>하이브리드</a:t>
            </a:r>
            <a:br>
              <a:rPr lang="ko-KR" altLang="en-US" dirty="0"/>
            </a:br>
            <a:endParaRPr lang="ko-KR" altLang="en-US" sz="3200" b="1" dirty="0">
              <a:solidFill>
                <a:srgbClr val="003366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677908-A79E-B483-3AED-3216954A6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86" y="935666"/>
            <a:ext cx="1569921" cy="5777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GPU &amp; NPU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분담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NPU (Rebellions ATOM) - </a:t>
            </a:r>
            <a:r>
              <a:rPr lang="ko-KR" altLang="en-US" dirty="0"/>
              <a:t>모델 추론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YOLOv11 </a:t>
            </a:r>
            <a:r>
              <a:rPr lang="ko-KR" altLang="en-US" dirty="0"/>
              <a:t>모델 추론 전담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RBLN Runtime </a:t>
            </a:r>
            <a:r>
              <a:rPr lang="ko-KR" altLang="en-US" dirty="0"/>
              <a:t>사용 </a:t>
            </a:r>
            <a:r>
              <a:rPr lang="en-US" altLang="ko-KR" dirty="0"/>
              <a:t>(</a:t>
            </a:r>
            <a:r>
              <a:rPr lang="ko-KR" altLang="en-US" dirty="0" err="1"/>
              <a:t>컴파일된</a:t>
            </a:r>
            <a:r>
              <a:rPr lang="ko-KR" altLang="en-US" dirty="0"/>
              <a:t> </a:t>
            </a:r>
            <a:r>
              <a:rPr lang="en-US" altLang="ko-KR" dirty="0"/>
              <a:t>.</a:t>
            </a:r>
            <a:r>
              <a:rPr lang="en" altLang="ko-KR" dirty="0" err="1"/>
              <a:t>rbln</a:t>
            </a:r>
            <a:r>
              <a:rPr lang="en" altLang="ko-KR" dirty="0"/>
              <a:t> </a:t>
            </a:r>
            <a:r>
              <a:rPr lang="ko-KR" altLang="en-US" dirty="0"/>
              <a:t>모델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추론 속도</a:t>
            </a:r>
            <a:r>
              <a:rPr lang="en-US" altLang="ko-KR" dirty="0"/>
              <a:t>: 3-5</a:t>
            </a:r>
            <a:r>
              <a:rPr lang="en" altLang="ko-KR" dirty="0" err="1"/>
              <a:t>ms</a:t>
            </a:r>
            <a:r>
              <a:rPr lang="en" altLang="ko-KR" dirty="0"/>
              <a:t>/frame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활용률</a:t>
            </a:r>
            <a:r>
              <a:rPr lang="en-US" altLang="ko-KR" dirty="0"/>
              <a:t>: 40-60% (</a:t>
            </a:r>
            <a:r>
              <a:rPr lang="ko-KR" altLang="en-US" dirty="0"/>
              <a:t>최적화 여지 있음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GPU - </a:t>
            </a:r>
            <a:r>
              <a:rPr lang="ko-KR" altLang="en-US" dirty="0"/>
              <a:t>디스플레이 및 시각화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 err="1"/>
              <a:t>바운딩</a:t>
            </a:r>
            <a:r>
              <a:rPr lang="ko-KR" altLang="en-US" dirty="0"/>
              <a:t> 박스 렌더링 </a:t>
            </a:r>
            <a:r>
              <a:rPr lang="en-US" altLang="ko-KR" dirty="0"/>
              <a:t>(</a:t>
            </a:r>
            <a:r>
              <a:rPr lang="en" altLang="ko-KR" dirty="0"/>
              <a:t>OpenCV)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텍스트 오버레이 </a:t>
            </a:r>
            <a:r>
              <a:rPr lang="en-US" altLang="ko-KR" dirty="0"/>
              <a:t>(</a:t>
            </a:r>
            <a:r>
              <a:rPr lang="ko-KR" altLang="en-US" dirty="0"/>
              <a:t>클래스명</a:t>
            </a:r>
            <a:r>
              <a:rPr lang="en-US" altLang="ko-KR" dirty="0"/>
              <a:t>, </a:t>
            </a:r>
            <a:r>
              <a:rPr lang="ko-KR" altLang="en-US" dirty="0"/>
              <a:t>신뢰도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JPEG </a:t>
            </a:r>
            <a:r>
              <a:rPr lang="ko-KR" altLang="en-US" dirty="0"/>
              <a:t>인코딩 및 압축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웹 브라우저 출력 </a:t>
            </a:r>
            <a:r>
              <a:rPr lang="en-US" altLang="ko-KR" dirty="0"/>
              <a:t>(</a:t>
            </a:r>
            <a:r>
              <a:rPr lang="en" altLang="ko-KR" dirty="0"/>
              <a:t>MJPEG </a:t>
            </a:r>
            <a:r>
              <a:rPr lang="ko-KR" altLang="en-US" dirty="0"/>
              <a:t>스트리밍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CPU -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후처리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이미지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리사이징</a:t>
            </a:r>
            <a:r>
              <a:rPr lang="en-US" altLang="ko-KR" dirty="0"/>
              <a:t>, </a:t>
            </a:r>
            <a:r>
              <a:rPr lang="ko-KR" altLang="en-US" dirty="0"/>
              <a:t>정규화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NMS </a:t>
            </a:r>
            <a:r>
              <a:rPr lang="ko-KR" altLang="en-US" dirty="0"/>
              <a:t>및 </a:t>
            </a:r>
            <a:r>
              <a:rPr lang="en" altLang="ko-KR" dirty="0"/>
              <a:t>Confidence Filtering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좌표 변환 및 </a:t>
            </a:r>
            <a:r>
              <a:rPr lang="en" altLang="ko-KR" dirty="0"/>
              <a:t>Detection </a:t>
            </a:r>
            <a:r>
              <a:rPr lang="ko-KR" altLang="en-US" dirty="0"/>
              <a:t>파싱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데이터 처리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-US" altLang="ko-KR" dirty="0"/>
              <a:t>1. </a:t>
            </a:r>
            <a:r>
              <a:rPr lang="ko-KR" altLang="en-US" dirty="0"/>
              <a:t>카메라 입력 </a:t>
            </a:r>
            <a:r>
              <a:rPr lang="en-US" altLang="ko-KR" dirty="0"/>
              <a:t>(</a:t>
            </a:r>
            <a:r>
              <a:rPr lang="en" altLang="ko-KR" dirty="0"/>
              <a:t>Camera Capture)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OpenCV </a:t>
            </a:r>
            <a:r>
              <a:rPr lang="en" altLang="ko-KR" dirty="0" err="1"/>
              <a:t>VideoCapture</a:t>
            </a:r>
            <a:r>
              <a:rPr lang="ko-KR" altLang="en-US" dirty="0"/>
              <a:t>로 프레임 획득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해상도</a:t>
            </a:r>
            <a:r>
              <a:rPr lang="en-US" altLang="ko-KR" dirty="0"/>
              <a:t>: 960</a:t>
            </a:r>
            <a:r>
              <a:rPr lang="en" altLang="ko-KR" dirty="0"/>
              <a:t>x540 (</a:t>
            </a:r>
            <a:r>
              <a:rPr lang="en" altLang="ko-KR" dirty="0" err="1"/>
              <a:t>qHD</a:t>
            </a:r>
            <a:r>
              <a:rPr lang="en" altLang="ko-KR" dirty="0"/>
              <a:t>, 16:9 aspect ratio)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포맷</a:t>
            </a:r>
            <a:r>
              <a:rPr lang="en-US" altLang="ko-KR" dirty="0"/>
              <a:t>: </a:t>
            </a:r>
            <a:r>
              <a:rPr lang="en" altLang="ko-KR" dirty="0"/>
              <a:t>MJPEG (</a:t>
            </a:r>
            <a:r>
              <a:rPr lang="ko-KR" altLang="en-US" dirty="0"/>
              <a:t>빠른 캡처를 위한 최적화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처리 시간</a:t>
            </a:r>
            <a:r>
              <a:rPr lang="en-US" altLang="ko-KR" dirty="0"/>
              <a:t>: ~20-25</a:t>
            </a:r>
            <a:r>
              <a:rPr lang="en" altLang="ko-KR" dirty="0" err="1"/>
              <a:t>ms</a:t>
            </a:r>
            <a:endParaRPr lang="en" altLang="ko-KR" dirty="0"/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2.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" altLang="ko-KR" dirty="0"/>
              <a:t>Preprocessing)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리사이징</a:t>
            </a:r>
            <a:r>
              <a:rPr lang="en-US" altLang="ko-KR" dirty="0"/>
              <a:t>: 960</a:t>
            </a:r>
            <a:r>
              <a:rPr lang="en" altLang="ko-KR" dirty="0"/>
              <a:t>x540 → 800x800 (</a:t>
            </a:r>
            <a:r>
              <a:rPr lang="ko-KR" altLang="en-US" dirty="0"/>
              <a:t>모델 입력 크기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Letterbox </a:t>
            </a:r>
            <a:r>
              <a:rPr lang="ko-KR" altLang="en-US" dirty="0"/>
              <a:t>패딩 추가 </a:t>
            </a:r>
            <a:r>
              <a:rPr lang="en-US" altLang="ko-KR" dirty="0"/>
              <a:t>(</a:t>
            </a:r>
            <a:r>
              <a:rPr lang="en" altLang="ko-KR" dirty="0"/>
              <a:t>aspect ratio </a:t>
            </a:r>
            <a:r>
              <a:rPr lang="ko-KR" altLang="en-US" dirty="0"/>
              <a:t>유지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색상 변환 및 정규화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처리 시간</a:t>
            </a:r>
            <a:r>
              <a:rPr lang="en-US" altLang="ko-KR" dirty="0"/>
              <a:t>: ~8-10</a:t>
            </a:r>
            <a:r>
              <a:rPr lang="en" altLang="ko-KR" dirty="0" err="1"/>
              <a:t>ms</a:t>
            </a:r>
            <a:endParaRPr lang="en" altLang="ko-KR" dirty="0"/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3. NPU </a:t>
            </a:r>
            <a:r>
              <a:rPr lang="ko-KR" altLang="en-US" dirty="0"/>
              <a:t>추론 </a:t>
            </a:r>
            <a:r>
              <a:rPr lang="en-US" altLang="ko-KR" dirty="0"/>
              <a:t>(</a:t>
            </a:r>
            <a:r>
              <a:rPr lang="en" altLang="ko-KR" dirty="0"/>
              <a:t>Inference)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RBLN Runtime</a:t>
            </a:r>
            <a:r>
              <a:rPr lang="ko-KR" altLang="en-US" dirty="0"/>
              <a:t>을 통한 </a:t>
            </a:r>
            <a:r>
              <a:rPr lang="en" altLang="ko-KR" dirty="0"/>
              <a:t>YOLOv11 </a:t>
            </a:r>
            <a:r>
              <a:rPr lang="ko-KR" altLang="en-US" dirty="0"/>
              <a:t>실행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입력</a:t>
            </a:r>
            <a:r>
              <a:rPr lang="en-US" altLang="ko-KR" dirty="0"/>
              <a:t>: 1</a:t>
            </a:r>
            <a:r>
              <a:rPr lang="en" altLang="ko-KR" dirty="0"/>
              <a:t>x3x800x800 float32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en" altLang="ko-KR" dirty="0"/>
              <a:t>Detection boxes + confidence scores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처리 시간</a:t>
            </a:r>
            <a:r>
              <a:rPr lang="en-US" altLang="ko-KR" dirty="0"/>
              <a:t>: ~3-5</a:t>
            </a:r>
            <a:r>
              <a:rPr lang="en" altLang="ko-KR" dirty="0" err="1"/>
              <a:t>ms</a:t>
            </a:r>
            <a:r>
              <a:rPr lang="en" altLang="ko-KR" dirty="0"/>
              <a:t> (NPU </a:t>
            </a:r>
            <a:r>
              <a:rPr lang="ko-KR" altLang="en-US" dirty="0"/>
              <a:t>순수 추론 시간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후처리 및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-US" altLang="ko-KR" dirty="0"/>
              <a:t>4. </a:t>
            </a:r>
            <a:r>
              <a:rPr lang="ko-KR" altLang="en-US" dirty="0"/>
              <a:t>후처리 </a:t>
            </a:r>
            <a:r>
              <a:rPr lang="en-US" altLang="ko-KR" dirty="0"/>
              <a:t>(</a:t>
            </a:r>
            <a:r>
              <a:rPr lang="en" altLang="ko-KR" dirty="0"/>
              <a:t>Postprocessing)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NMS (Non-Maximum Suppression) </a:t>
            </a:r>
            <a:r>
              <a:rPr lang="ko-KR" altLang="en-US" dirty="0"/>
              <a:t>적용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" altLang="ko-KR" dirty="0" err="1"/>
              <a:t>IoU</a:t>
            </a:r>
            <a:r>
              <a:rPr lang="en" altLang="ko-KR" dirty="0"/>
              <a:t> threshold: 0.45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" altLang="ko-KR" dirty="0"/>
              <a:t>  - </a:t>
            </a:r>
            <a:r>
              <a:rPr lang="ko-KR" altLang="en-US" dirty="0"/>
              <a:t>중복 </a:t>
            </a:r>
            <a:r>
              <a:rPr lang="en" altLang="ko-KR" dirty="0"/>
              <a:t>Detection </a:t>
            </a:r>
            <a:r>
              <a:rPr lang="ko-KR" altLang="en-US" dirty="0"/>
              <a:t>제거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Confidence Filtering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" altLang="ko-KR" dirty="0"/>
              <a:t>  - Threshold: 0.25 (25% </a:t>
            </a:r>
            <a:r>
              <a:rPr lang="ko-KR" altLang="en-US" dirty="0"/>
              <a:t>이상만 표시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좌표 </a:t>
            </a:r>
            <a:r>
              <a:rPr lang="ko-KR" altLang="en-US" dirty="0" err="1"/>
              <a:t>역변환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모델 좌표 → 원본 이미지 좌표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처리 시간</a:t>
            </a:r>
            <a:r>
              <a:rPr lang="en-US" altLang="ko-KR" dirty="0"/>
              <a:t>: ~5-7</a:t>
            </a:r>
            <a:r>
              <a:rPr lang="en" altLang="ko-KR" dirty="0" err="1"/>
              <a:t>ms</a:t>
            </a:r>
            <a:endParaRPr lang="en" altLang="ko-KR" dirty="0"/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5. </a:t>
            </a:r>
            <a:r>
              <a:rPr lang="ko-KR" altLang="en-US" dirty="0"/>
              <a:t>시각화 및 출력 </a:t>
            </a:r>
            <a:r>
              <a:rPr lang="en-US" altLang="ko-KR" dirty="0"/>
              <a:t>(</a:t>
            </a:r>
            <a:r>
              <a:rPr lang="en" altLang="ko-KR" dirty="0"/>
              <a:t>Visualization)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 err="1"/>
              <a:t>바운딩</a:t>
            </a:r>
            <a:r>
              <a:rPr lang="ko-KR" altLang="en-US" dirty="0"/>
              <a:t> 박스 그리기 </a:t>
            </a:r>
            <a:r>
              <a:rPr lang="en-US" altLang="ko-KR" dirty="0"/>
              <a:t>(</a:t>
            </a:r>
            <a:r>
              <a:rPr lang="ko-KR" altLang="en-US" dirty="0"/>
              <a:t>클래스별 색상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텍스트 오버레이 </a:t>
            </a:r>
            <a:r>
              <a:rPr lang="en-US" altLang="ko-KR" dirty="0"/>
              <a:t>(</a:t>
            </a:r>
            <a:r>
              <a:rPr lang="ko-KR" altLang="en-US" dirty="0"/>
              <a:t>클래스명 </a:t>
            </a:r>
            <a:r>
              <a:rPr lang="en-US" altLang="ko-KR" dirty="0"/>
              <a:t>+ </a:t>
            </a:r>
            <a:r>
              <a:rPr lang="ko-KR" altLang="en-US" dirty="0"/>
              <a:t>신뢰도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JPEG </a:t>
            </a:r>
            <a:r>
              <a:rPr lang="ko-KR" altLang="en-US" dirty="0"/>
              <a:t>인코딩 </a:t>
            </a:r>
            <a:r>
              <a:rPr lang="en-US" altLang="ko-KR" dirty="0"/>
              <a:t>(</a:t>
            </a:r>
            <a:r>
              <a:rPr lang="ko-KR" altLang="en-US" dirty="0"/>
              <a:t>품질</a:t>
            </a:r>
            <a:r>
              <a:rPr lang="en-US" altLang="ko-KR" dirty="0"/>
              <a:t>: 90)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처리 시간</a:t>
            </a:r>
            <a:r>
              <a:rPr lang="en-US" altLang="ko-KR" dirty="0"/>
              <a:t>: ~15-20</a:t>
            </a:r>
            <a:r>
              <a:rPr lang="en" altLang="ko-KR" dirty="0" err="1"/>
              <a:t>ms</a:t>
            </a:r>
            <a:endParaRPr lang="en" altLang="ko-KR" dirty="0"/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6. </a:t>
            </a:r>
            <a:r>
              <a:rPr lang="ko-KR" altLang="en-US" dirty="0"/>
              <a:t>웹 스트리밍 </a:t>
            </a:r>
            <a:r>
              <a:rPr lang="en-US" altLang="ko-KR" dirty="0"/>
              <a:t>(</a:t>
            </a:r>
            <a:r>
              <a:rPr lang="en" altLang="ko-KR" dirty="0"/>
              <a:t>Web Streaming)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Flask MJPEG </a:t>
            </a:r>
            <a:r>
              <a:rPr lang="ko-KR" altLang="en-US" dirty="0"/>
              <a:t>스트리밍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브라우저 자동 오픈 </a:t>
            </a:r>
            <a:r>
              <a:rPr lang="en-US" altLang="ko-KR" dirty="0"/>
              <a:t>(</a:t>
            </a:r>
            <a:r>
              <a:rPr lang="en" altLang="ko-KR" dirty="0"/>
              <a:t>http://localhost:5000)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최종 출력</a:t>
            </a:r>
            <a:r>
              <a:rPr lang="en-US" altLang="ko-KR" dirty="0"/>
              <a:t>: 20-25 </a:t>
            </a:r>
            <a:r>
              <a:rPr lang="en" altLang="ko-KR" dirty="0"/>
              <a:t>FPS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탐지 클래스 (9 Classes)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화재 및 연기 감지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fire (</a:t>
            </a:r>
            <a:r>
              <a:rPr lang="ko-KR" altLang="en-US" dirty="0"/>
              <a:t>화재</a:t>
            </a:r>
            <a:r>
              <a:rPr lang="en-US" altLang="ko-KR" dirty="0"/>
              <a:t>): </a:t>
            </a:r>
            <a:r>
              <a:rPr lang="ko-KR" altLang="en-US" dirty="0"/>
              <a:t>불꽃 감지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 err="1"/>
              <a:t>Smoke_White</a:t>
            </a:r>
            <a:r>
              <a:rPr lang="en" altLang="ko-KR" dirty="0"/>
              <a:t> (</a:t>
            </a:r>
            <a:r>
              <a:rPr lang="ko-KR" altLang="en-US" dirty="0"/>
              <a:t>백색 연기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 err="1"/>
              <a:t>Smoke_Black</a:t>
            </a:r>
            <a:r>
              <a:rPr lang="en" altLang="ko-KR" dirty="0"/>
              <a:t> (</a:t>
            </a:r>
            <a:r>
              <a:rPr lang="ko-KR" altLang="en-US" dirty="0"/>
              <a:t>흑색 연기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 err="1"/>
              <a:t>Opacity_Smoke</a:t>
            </a:r>
            <a:r>
              <a:rPr lang="en" altLang="ko-KR" dirty="0"/>
              <a:t> (</a:t>
            </a:r>
            <a:r>
              <a:rPr lang="ko-KR" altLang="en-US" dirty="0"/>
              <a:t>불투명 연기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사람 감지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person (</a:t>
            </a:r>
            <a:r>
              <a:rPr lang="ko-KR" altLang="en-US" dirty="0"/>
              <a:t>사람 전체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head (</a:t>
            </a:r>
            <a:r>
              <a:rPr lang="ko-KR" altLang="en-US" dirty="0"/>
              <a:t>머리 부위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falling (</a:t>
            </a:r>
            <a:r>
              <a:rPr lang="ko-KR" altLang="en-US" dirty="0"/>
              <a:t>낙상 감지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안전 장비 및 위험 요소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helmet (</a:t>
            </a:r>
            <a:r>
              <a:rPr lang="ko-KR" altLang="en-US" dirty="0"/>
              <a:t>안전모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ladder (</a:t>
            </a:r>
            <a:r>
              <a:rPr lang="ko-KR" altLang="en-US" dirty="0"/>
              <a:t>사다리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활용 시나리오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화재 조기 경보 시스템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안전모 미착용 감지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작업장 안전 모니터링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낙상 사고 실시간 감지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성능 지표 및 최적화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처리 속도 </a:t>
            </a:r>
            <a:r>
              <a:rPr lang="en-US" altLang="ko-KR" dirty="0"/>
              <a:t>(</a:t>
            </a:r>
            <a:r>
              <a:rPr lang="en" altLang="ko-KR" dirty="0"/>
              <a:t>FPS)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목표 </a:t>
            </a:r>
            <a:r>
              <a:rPr lang="en" altLang="ko-KR" dirty="0"/>
              <a:t>FPS: 20-25 FPS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실제 달성</a:t>
            </a:r>
            <a:r>
              <a:rPr lang="en-US" altLang="ko-KR" dirty="0"/>
              <a:t>: 20-23 </a:t>
            </a:r>
            <a:r>
              <a:rPr lang="en" altLang="ko-KR" dirty="0"/>
              <a:t>FPS (</a:t>
            </a:r>
            <a:r>
              <a:rPr lang="ko-KR" altLang="en-US" dirty="0"/>
              <a:t>안정적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Skip Frame </a:t>
            </a:r>
            <a:r>
              <a:rPr lang="ko-KR" altLang="en-US" dirty="0"/>
              <a:t>전략</a:t>
            </a:r>
            <a:r>
              <a:rPr lang="en-US" altLang="ko-KR" dirty="0"/>
              <a:t>: 2</a:t>
            </a:r>
            <a:r>
              <a:rPr lang="ko-KR" altLang="en-US" dirty="0"/>
              <a:t>프레임마다 </a:t>
            </a:r>
            <a:r>
              <a:rPr lang="en-US" altLang="ko-KR" dirty="0"/>
              <a:t>1</a:t>
            </a:r>
            <a:r>
              <a:rPr lang="ko-KR" altLang="en-US" dirty="0"/>
              <a:t>회 추론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지연시간 분석 </a:t>
            </a:r>
            <a:r>
              <a:rPr lang="en-US" altLang="ko-KR" dirty="0"/>
              <a:t>(</a:t>
            </a:r>
            <a:r>
              <a:rPr lang="en" altLang="ko-KR" dirty="0"/>
              <a:t>Latency Breakdown)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카메라 캡처</a:t>
            </a:r>
            <a:r>
              <a:rPr lang="en-US" altLang="ko-KR" dirty="0"/>
              <a:t>: ~20-25</a:t>
            </a:r>
            <a:r>
              <a:rPr lang="en" altLang="ko-KR" dirty="0" err="1"/>
              <a:t>ms</a:t>
            </a:r>
            <a:r>
              <a:rPr lang="en" altLang="ko-KR" dirty="0"/>
              <a:t> (40-50%)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 err="1"/>
              <a:t>전처리</a:t>
            </a:r>
            <a:r>
              <a:rPr lang="en-US" altLang="ko-KR" dirty="0"/>
              <a:t>: ~8-10</a:t>
            </a:r>
            <a:r>
              <a:rPr lang="en" altLang="ko-KR" dirty="0" err="1"/>
              <a:t>ms</a:t>
            </a:r>
            <a:r>
              <a:rPr lang="en" altLang="ko-KR" dirty="0"/>
              <a:t> (15-20%)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추론</a:t>
            </a:r>
            <a:r>
              <a:rPr lang="en-US" altLang="ko-KR" dirty="0"/>
              <a:t>: ~3-5</a:t>
            </a:r>
            <a:r>
              <a:rPr lang="en" altLang="ko-KR" dirty="0" err="1"/>
              <a:t>ms</a:t>
            </a:r>
            <a:r>
              <a:rPr lang="en" altLang="ko-KR" dirty="0"/>
              <a:t> (5-10%)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후처리</a:t>
            </a:r>
            <a:r>
              <a:rPr lang="en-US" altLang="ko-KR" dirty="0"/>
              <a:t>: ~5-7</a:t>
            </a:r>
            <a:r>
              <a:rPr lang="en" altLang="ko-KR" dirty="0" err="1"/>
              <a:t>ms</a:t>
            </a:r>
            <a:r>
              <a:rPr lang="en" altLang="ko-KR" dirty="0"/>
              <a:t> (10-15%)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시각화</a:t>
            </a:r>
            <a:r>
              <a:rPr lang="en-US" altLang="ko-KR" dirty="0"/>
              <a:t>: ~15-20</a:t>
            </a:r>
            <a:r>
              <a:rPr lang="en" altLang="ko-KR" dirty="0" err="1"/>
              <a:t>ms</a:t>
            </a:r>
            <a:r>
              <a:rPr lang="en" altLang="ko-KR" dirty="0"/>
              <a:t> (25-30%)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Total: ~50-67ms per frame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최적화 전략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카메라</a:t>
            </a:r>
            <a:r>
              <a:rPr lang="en-US" altLang="ko-KR" dirty="0"/>
              <a:t>: </a:t>
            </a:r>
            <a:r>
              <a:rPr lang="en" altLang="ko-KR" dirty="0"/>
              <a:t>MJPEG </a:t>
            </a:r>
            <a:r>
              <a:rPr lang="ko-KR" altLang="en-US" dirty="0"/>
              <a:t>포맷 사용</a:t>
            </a:r>
            <a:r>
              <a:rPr lang="en-US" altLang="ko-KR" dirty="0"/>
              <a:t>, </a:t>
            </a:r>
            <a:r>
              <a:rPr lang="ko-KR" altLang="en-US" dirty="0"/>
              <a:t>버퍼 최소화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 err="1"/>
              <a:t>전처리</a:t>
            </a:r>
            <a:r>
              <a:rPr lang="en-US" altLang="ko-KR" dirty="0"/>
              <a:t>: </a:t>
            </a:r>
            <a:r>
              <a:rPr lang="en" altLang="ko-KR" dirty="0"/>
              <a:t>INTER_LINEAR </a:t>
            </a:r>
            <a:r>
              <a:rPr lang="ko-KR" altLang="en-US" dirty="0"/>
              <a:t>리사이징</a:t>
            </a:r>
            <a:r>
              <a:rPr lang="en-US" altLang="ko-KR" dirty="0"/>
              <a:t>, </a:t>
            </a:r>
            <a:r>
              <a:rPr lang="ko-KR" altLang="en-US" dirty="0"/>
              <a:t>캐시 친화적 연산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NPU: Runtime </a:t>
            </a:r>
            <a:r>
              <a:rPr lang="ko-KR" altLang="en-US" dirty="0"/>
              <a:t>사용 </a:t>
            </a:r>
            <a:r>
              <a:rPr lang="en-US" altLang="ko-KR" dirty="0"/>
              <a:t>(</a:t>
            </a:r>
            <a:r>
              <a:rPr lang="en" altLang="ko-KR" dirty="0" err="1"/>
              <a:t>AsyncRuntime</a:t>
            </a:r>
            <a:r>
              <a:rPr lang="en" altLang="ko-KR" dirty="0"/>
              <a:t> </a:t>
            </a:r>
            <a:r>
              <a:rPr lang="ko-KR" altLang="en-US" dirty="0"/>
              <a:t>오버헤드 제거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JPEG </a:t>
            </a:r>
            <a:r>
              <a:rPr lang="ko-KR" altLang="en-US" dirty="0"/>
              <a:t>인코딩</a:t>
            </a:r>
            <a:r>
              <a:rPr lang="en-US" altLang="ko-KR" dirty="0"/>
              <a:t>: </a:t>
            </a:r>
            <a:r>
              <a:rPr lang="ko-KR" altLang="en-US" dirty="0"/>
              <a:t>품질 </a:t>
            </a:r>
            <a:r>
              <a:rPr lang="en-US" altLang="ko-KR" dirty="0"/>
              <a:t>90 (</a:t>
            </a:r>
            <a:r>
              <a:rPr lang="ko-KR" altLang="en-US" dirty="0"/>
              <a:t>속도</a:t>
            </a:r>
            <a:r>
              <a:rPr lang="en-US" altLang="ko-KR" dirty="0"/>
              <a:t>-</a:t>
            </a:r>
            <a:r>
              <a:rPr lang="ko-KR" altLang="en-US" dirty="0"/>
              <a:t>품질 균형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소프트웨어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웹 프레임워크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Flask: </a:t>
            </a:r>
            <a:r>
              <a:rPr lang="ko-KR" altLang="en-US" dirty="0"/>
              <a:t>고성능 웹 서버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MJPEG </a:t>
            </a:r>
            <a:r>
              <a:rPr lang="ko-KR" altLang="en-US" dirty="0"/>
              <a:t>스트리밍</a:t>
            </a:r>
            <a:r>
              <a:rPr lang="en-US" altLang="ko-KR" dirty="0"/>
              <a:t>: </a:t>
            </a:r>
            <a:r>
              <a:rPr lang="en" altLang="ko-KR" dirty="0"/>
              <a:t>multipart/x-mixed-replace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자동 브라우저 오픈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컴퓨터 비전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OpenCV: </a:t>
            </a:r>
            <a:r>
              <a:rPr lang="ko-KR" altLang="en-US" dirty="0"/>
              <a:t>카메라 입력</a:t>
            </a:r>
            <a:r>
              <a:rPr lang="en-US" altLang="ko-KR" dirty="0"/>
              <a:t>, </a:t>
            </a:r>
            <a:r>
              <a:rPr lang="ko-KR" altLang="en-US" dirty="0"/>
              <a:t>이미지 처리</a:t>
            </a:r>
            <a:r>
              <a:rPr lang="en-US" altLang="ko-KR" dirty="0"/>
              <a:t>, </a:t>
            </a:r>
            <a:r>
              <a:rPr lang="ko-KR" altLang="en-US" dirty="0"/>
              <a:t>시각화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NumPy: </a:t>
            </a:r>
            <a:r>
              <a:rPr lang="ko-KR" altLang="en-US" dirty="0"/>
              <a:t>고속 배열 연산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AI </a:t>
            </a:r>
            <a:r>
              <a:rPr lang="ko-KR" altLang="en-US" dirty="0"/>
              <a:t>추론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Rebellions SDK: NPU </a:t>
            </a:r>
            <a:r>
              <a:rPr lang="ko-KR" altLang="en-US" dirty="0"/>
              <a:t>런타임 및 컴파일러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RBLN Runtime: </a:t>
            </a:r>
            <a:r>
              <a:rPr lang="ko-KR" altLang="en-US" dirty="0"/>
              <a:t>최적화된 추론 엔진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YOLOv11: </a:t>
            </a:r>
            <a:r>
              <a:rPr lang="en" altLang="ko-KR" dirty="0" err="1"/>
              <a:t>Ultralytics</a:t>
            </a:r>
            <a:r>
              <a:rPr lang="en" altLang="ko-KR" dirty="0"/>
              <a:t> </a:t>
            </a:r>
            <a:r>
              <a:rPr lang="ko-KR" altLang="en-US" dirty="0"/>
              <a:t>최신 객체 감지 모델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설정 및 유틸리티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YAML: </a:t>
            </a:r>
            <a:r>
              <a:rPr lang="ko-KR" altLang="en-US" dirty="0"/>
              <a:t>클래스 설정 </a:t>
            </a:r>
            <a:r>
              <a:rPr lang="en-US" altLang="ko-KR" dirty="0"/>
              <a:t>(</a:t>
            </a:r>
            <a:r>
              <a:rPr lang="en" altLang="ko-KR" dirty="0"/>
              <a:t>config/</a:t>
            </a:r>
            <a:r>
              <a:rPr lang="en" altLang="ko-KR" dirty="0" err="1"/>
              <a:t>data.yaml</a:t>
            </a:r>
            <a:r>
              <a:rPr lang="en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Shell Scripts: </a:t>
            </a:r>
            <a:r>
              <a:rPr lang="ko-KR" altLang="en-US" dirty="0"/>
              <a:t>시작</a:t>
            </a:r>
            <a:r>
              <a:rPr lang="en-US" altLang="ko-KR" dirty="0"/>
              <a:t>/</a:t>
            </a:r>
            <a:r>
              <a:rPr lang="ko-KR" altLang="en-US" dirty="0"/>
              <a:t>종료 스크립트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진단 도구</a:t>
            </a:r>
            <a:r>
              <a:rPr lang="en-US" altLang="ko-KR" dirty="0"/>
              <a:t>: </a:t>
            </a:r>
            <a:r>
              <a:rPr lang="ko-KR" altLang="en-US" dirty="0"/>
              <a:t>카메라 테스트</a:t>
            </a:r>
            <a:r>
              <a:rPr lang="en-US" altLang="ko-KR" dirty="0"/>
              <a:t>, </a:t>
            </a:r>
            <a:r>
              <a:rPr lang="en" altLang="ko-KR" dirty="0"/>
              <a:t>NPU </a:t>
            </a:r>
            <a:r>
              <a:rPr lang="ko-KR" altLang="en-US" dirty="0"/>
              <a:t>모니터링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주요 기능 및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실시간 모니터링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연속 비디오 스트리밍 </a:t>
            </a:r>
            <a:r>
              <a:rPr lang="en-US" altLang="ko-KR" dirty="0"/>
              <a:t>(</a:t>
            </a:r>
            <a:r>
              <a:rPr lang="ko-KR" altLang="en-US" dirty="0"/>
              <a:t>끊김 없음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</a:t>
            </a:r>
            <a:r>
              <a:rPr lang="en" altLang="ko-KR" dirty="0"/>
              <a:t>FPS </a:t>
            </a:r>
            <a:r>
              <a:rPr lang="ko-KR" altLang="en-US" dirty="0"/>
              <a:t>및 통계 표시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탐지 결과 즉시 시각화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성능 프로파일링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병목 지점 분석 </a:t>
            </a:r>
            <a:r>
              <a:rPr lang="en-US" altLang="ko-KR" dirty="0"/>
              <a:t>(/</a:t>
            </a:r>
            <a:r>
              <a:rPr lang="en" altLang="ko-KR" dirty="0"/>
              <a:t>bottleneck endpoint)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활용률 모니터링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각 단계별 처리 시간 측정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카메라 관리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자동 초기화 및 안정화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자동 포커스 조정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우아한 종료 시 카메라 릴리즈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사용자 편의성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자동 브라우저 실행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설정 가능한 파라미터 </a:t>
            </a:r>
            <a:r>
              <a:rPr lang="en-US" altLang="ko-KR" dirty="0"/>
              <a:t>(</a:t>
            </a:r>
            <a:r>
              <a:rPr lang="en" altLang="ko-KR" dirty="0"/>
              <a:t>confidence, IOU)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API </a:t>
            </a:r>
            <a:r>
              <a:rPr lang="ko-KR" altLang="en-US" dirty="0" err="1"/>
              <a:t>엔드포인트로</a:t>
            </a:r>
            <a:r>
              <a:rPr lang="ko-KR" altLang="en-US" dirty="0"/>
              <a:t> 실시간 통계 조회 가능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흐름도</a:t>
            </a:r>
            <a:r>
              <a:rPr dirty="0"/>
              <a:t> (Sequence)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99909F-E201-FB51-CBB3-79D1CDE5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92" t="2633"/>
          <a:stretch>
            <a:fillRect/>
          </a:stretch>
        </p:blipFill>
        <p:spPr>
          <a:xfrm>
            <a:off x="2870791" y="792972"/>
            <a:ext cx="2913321" cy="60308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API </a:t>
            </a:r>
            <a:r>
              <a:rPr dirty="0" err="1"/>
              <a:t>엔드포인트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GET /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메인 웹 페이지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비디오 스트림 및 </a:t>
            </a:r>
            <a:r>
              <a:rPr lang="en" altLang="ko-KR" dirty="0"/>
              <a:t>UI </a:t>
            </a:r>
            <a:r>
              <a:rPr lang="ko-KR" altLang="en-US" dirty="0"/>
              <a:t>제공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GET /</a:t>
            </a:r>
            <a:r>
              <a:rPr lang="en" altLang="ko-KR" dirty="0" err="1"/>
              <a:t>video_feed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MJPEG </a:t>
            </a:r>
            <a:r>
              <a:rPr lang="ko-KR" altLang="en-US" dirty="0"/>
              <a:t>비디오 스트림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Content-Type: multipart/x-mixed-replace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프레임 전송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GET /stats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통계 정보 </a:t>
            </a:r>
            <a:r>
              <a:rPr lang="en-US" altLang="ko-KR" dirty="0"/>
              <a:t>(</a:t>
            </a:r>
            <a:r>
              <a:rPr lang="en" altLang="ko-KR" dirty="0"/>
              <a:t>JSON)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" altLang="ko-KR" dirty="0"/>
              <a:t>• fps: </a:t>
            </a:r>
            <a:r>
              <a:rPr lang="ko-KR" altLang="en-US" dirty="0"/>
              <a:t>현재 </a:t>
            </a:r>
            <a:r>
              <a:rPr lang="ko-KR" altLang="en-US" dirty="0" err="1"/>
              <a:t>프레임률</a:t>
            </a:r>
            <a:endParaRPr lang="ko-KR" altLang="en-US" dirty="0"/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-US" altLang="ko-KR" dirty="0"/>
              <a:t>• </a:t>
            </a:r>
            <a:r>
              <a:rPr lang="en" altLang="ko-KR" dirty="0" err="1"/>
              <a:t>inference_time</a:t>
            </a:r>
            <a:r>
              <a:rPr lang="en" altLang="ko-KR" dirty="0"/>
              <a:t>: NPU </a:t>
            </a:r>
            <a:r>
              <a:rPr lang="ko-KR" altLang="en-US" dirty="0"/>
              <a:t>추론 시간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-US" altLang="ko-KR" dirty="0"/>
              <a:t>• </a:t>
            </a:r>
            <a:r>
              <a:rPr lang="en" altLang="ko-KR" dirty="0"/>
              <a:t>detections: </a:t>
            </a:r>
            <a:r>
              <a:rPr lang="ko-KR" altLang="en-US" dirty="0"/>
              <a:t>탐지된 객체 수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-US" altLang="ko-KR" dirty="0"/>
              <a:t>• </a:t>
            </a:r>
            <a:r>
              <a:rPr lang="en" altLang="ko-KR" dirty="0" err="1"/>
              <a:t>npu_utilization</a:t>
            </a:r>
            <a:r>
              <a:rPr lang="en" altLang="ko-KR" dirty="0"/>
              <a:t>: NPU </a:t>
            </a:r>
            <a:r>
              <a:rPr lang="ko-KR" altLang="en-US" dirty="0"/>
              <a:t>활용률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GET /bottleneck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병목 분석 정보 </a:t>
            </a:r>
            <a:r>
              <a:rPr lang="en-US" altLang="ko-KR" dirty="0"/>
              <a:t>(</a:t>
            </a:r>
            <a:r>
              <a:rPr lang="en" altLang="ko-KR" dirty="0"/>
              <a:t>JSON)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" altLang="ko-KR" dirty="0"/>
              <a:t>• </a:t>
            </a:r>
            <a:r>
              <a:rPr lang="ko-KR" altLang="en-US" dirty="0"/>
              <a:t>각 단계별 처리 시간 및 비율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최대 병목 지점 식별</a:t>
            </a:r>
          </a:p>
          <a:p>
            <a:pPr lvl="2">
              <a:spcAft>
                <a:spcPts val="800"/>
              </a:spcAft>
              <a:defRPr sz="1400">
                <a:solidFill>
                  <a:srgbClr val="000000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최적화 권장사항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배포 및 운영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시작 방법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방법 </a:t>
            </a:r>
            <a:r>
              <a:rPr lang="en-US" altLang="ko-KR" dirty="0"/>
              <a:t>1: </a:t>
            </a:r>
            <a:r>
              <a:rPr lang="en" altLang="ko-KR" dirty="0"/>
              <a:t>python3 </a:t>
            </a:r>
            <a:r>
              <a:rPr lang="en" altLang="ko-KR" dirty="0" err="1"/>
              <a:t>app_web.py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방법 </a:t>
            </a:r>
            <a:r>
              <a:rPr lang="en-US" altLang="ko-KR" dirty="0"/>
              <a:t>2: ./</a:t>
            </a:r>
            <a:r>
              <a:rPr lang="en" altLang="ko-KR" dirty="0" err="1"/>
              <a:t>start_app.sh</a:t>
            </a:r>
            <a:r>
              <a:rPr lang="en" altLang="ko-KR" dirty="0"/>
              <a:t> (</a:t>
            </a:r>
            <a:r>
              <a:rPr lang="ko-KR" altLang="en-US" dirty="0"/>
              <a:t>백그라운드 실행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종료 방법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 err="1"/>
              <a:t>Ctrl+C</a:t>
            </a:r>
            <a:r>
              <a:rPr lang="en" altLang="ko-KR" dirty="0"/>
              <a:t> (</a:t>
            </a:r>
            <a:r>
              <a:rPr lang="ko-KR" altLang="en-US" dirty="0"/>
              <a:t>포그라운드 실행 시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-US" altLang="ko-KR" dirty="0"/>
              <a:t>./</a:t>
            </a:r>
            <a:r>
              <a:rPr lang="en" altLang="ko-KR" dirty="0" err="1"/>
              <a:t>stop_app.sh</a:t>
            </a:r>
            <a:r>
              <a:rPr lang="en" altLang="ko-KR" dirty="0"/>
              <a:t> (</a:t>
            </a:r>
            <a:r>
              <a:rPr lang="ko-KR" altLang="en-US" dirty="0"/>
              <a:t>백그라운드 실행 시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모니터링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실시간 통계</a:t>
            </a:r>
            <a:r>
              <a:rPr lang="en-US" altLang="ko-KR" dirty="0"/>
              <a:t>: </a:t>
            </a:r>
            <a:r>
              <a:rPr lang="en" altLang="ko-KR" dirty="0"/>
              <a:t>curl http://localhost:5000/stats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병목 분석</a:t>
            </a:r>
            <a:r>
              <a:rPr lang="en-US" altLang="ko-KR" dirty="0"/>
              <a:t>: </a:t>
            </a:r>
            <a:r>
              <a:rPr lang="en" altLang="ko-KR" dirty="0"/>
              <a:t>curl http://localhost:5000/bottleneck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상태</a:t>
            </a:r>
            <a:r>
              <a:rPr lang="en-US" altLang="ko-KR" dirty="0"/>
              <a:t>: </a:t>
            </a:r>
            <a:r>
              <a:rPr lang="en" altLang="ko-KR" dirty="0" err="1"/>
              <a:t>rbln</a:t>
            </a:r>
            <a:r>
              <a:rPr lang="en" altLang="ko-KR" dirty="0"/>
              <a:t>-stat </a:t>
            </a:r>
            <a:r>
              <a:rPr lang="ko-KR" altLang="en-US" dirty="0"/>
              <a:t>명령어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로그 확인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애플리케이션 로그</a:t>
            </a:r>
            <a:r>
              <a:rPr lang="en-US" altLang="ko-KR" dirty="0"/>
              <a:t>: </a:t>
            </a:r>
            <a:r>
              <a:rPr lang="ko-KR" altLang="en-US" dirty="0"/>
              <a:t>콘솔 출력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로그</a:t>
            </a:r>
            <a:r>
              <a:rPr lang="en-US" altLang="ko-KR" dirty="0"/>
              <a:t>: </a:t>
            </a:r>
            <a:r>
              <a:rPr lang="en" altLang="ko-KR" dirty="0"/>
              <a:t>Rebellions SDK </a:t>
            </a:r>
            <a:r>
              <a:rPr lang="ko-KR" altLang="en-US" dirty="0"/>
              <a:t>로그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문제 해결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카메라 진단</a:t>
            </a:r>
            <a:r>
              <a:rPr lang="en-US" altLang="ko-KR" dirty="0"/>
              <a:t>: </a:t>
            </a:r>
            <a:r>
              <a:rPr lang="en" altLang="ko-KR" dirty="0"/>
              <a:t>utils/</a:t>
            </a:r>
            <a:r>
              <a:rPr lang="en" altLang="ko-KR" dirty="0" err="1"/>
              <a:t>diagnose_camera.py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카메라 리셋</a:t>
            </a:r>
            <a:r>
              <a:rPr lang="en-US" altLang="ko-KR" dirty="0"/>
              <a:t>: </a:t>
            </a:r>
            <a:r>
              <a:rPr lang="en" altLang="ko-KR" dirty="0"/>
              <a:t>utils/</a:t>
            </a:r>
            <a:r>
              <a:rPr lang="en" altLang="ko-KR" dirty="0" err="1"/>
              <a:t>reset_camera.sh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테스트</a:t>
            </a:r>
            <a:r>
              <a:rPr lang="en-US" altLang="ko-KR" dirty="0"/>
              <a:t>: </a:t>
            </a:r>
            <a:r>
              <a:rPr lang="en" altLang="ko-KR" dirty="0"/>
              <a:t>utils/</a:t>
            </a:r>
            <a:r>
              <a:rPr lang="en" altLang="ko-KR" dirty="0" err="1"/>
              <a:t>test_npu_inference.py</a:t>
            </a:r>
            <a:endParaRPr lang="en" altLang="ko-K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향후 개선 및 확장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성능 최적화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활용률 향상 </a:t>
            </a:r>
            <a:r>
              <a:rPr lang="en-US" altLang="ko-KR" dirty="0"/>
              <a:t>(</a:t>
            </a:r>
            <a:r>
              <a:rPr lang="ko-KR" altLang="en-US" dirty="0"/>
              <a:t>현재 </a:t>
            </a:r>
            <a:r>
              <a:rPr lang="en-US" altLang="ko-KR" dirty="0"/>
              <a:t>40-60% → 70-90%)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Batch </a:t>
            </a:r>
            <a:r>
              <a:rPr lang="ko-KR" altLang="en-US" dirty="0"/>
              <a:t>처리 도입 </a:t>
            </a:r>
            <a:r>
              <a:rPr lang="en-US" altLang="ko-KR" dirty="0"/>
              <a:t>(</a:t>
            </a:r>
            <a:r>
              <a:rPr lang="ko-KR" altLang="en-US" dirty="0"/>
              <a:t>다중 프레임 동시 추론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카메라 캡처 병렬화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기능 추가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알림 시스템 </a:t>
            </a:r>
            <a:r>
              <a:rPr lang="en-US" altLang="ko-KR" dirty="0"/>
              <a:t>(</a:t>
            </a:r>
            <a:r>
              <a:rPr lang="ko-KR" altLang="en-US" dirty="0"/>
              <a:t>화재</a:t>
            </a:r>
            <a:r>
              <a:rPr lang="en-US" altLang="ko-KR" dirty="0"/>
              <a:t>/</a:t>
            </a:r>
            <a:r>
              <a:rPr lang="ko-KR" altLang="en-US" dirty="0"/>
              <a:t>낙상 감지 시 </a:t>
            </a:r>
            <a:r>
              <a:rPr lang="en" altLang="ko-KR" dirty="0"/>
              <a:t>SMS/</a:t>
            </a:r>
            <a:r>
              <a:rPr lang="ko-KR" altLang="en-US" dirty="0"/>
              <a:t>이메일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녹화 기능 </a:t>
            </a:r>
            <a:r>
              <a:rPr lang="en-US" altLang="ko-KR" dirty="0"/>
              <a:t>(</a:t>
            </a:r>
            <a:r>
              <a:rPr lang="en" altLang="ko-KR" dirty="0"/>
              <a:t>Detection </a:t>
            </a:r>
            <a:r>
              <a:rPr lang="ko-KR" altLang="en-US" dirty="0"/>
              <a:t>이벤트 저장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통계 대시보드 </a:t>
            </a:r>
            <a:r>
              <a:rPr lang="en-US" altLang="ko-KR" dirty="0"/>
              <a:t>(</a:t>
            </a:r>
            <a:r>
              <a:rPr lang="ko-KR" altLang="en-US" dirty="0"/>
              <a:t>시간대별 </a:t>
            </a:r>
            <a:r>
              <a:rPr lang="en" altLang="ko-KR" dirty="0"/>
              <a:t>Detection </a:t>
            </a:r>
            <a:r>
              <a:rPr lang="ko-KR" altLang="en-US" dirty="0"/>
              <a:t>분석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다중 카메라 지원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en" altLang="ko-KR" dirty="0"/>
              <a:t>AI </a:t>
            </a:r>
            <a:r>
              <a:rPr lang="ko-KR" altLang="en-US" dirty="0"/>
              <a:t>모델 개선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커스텀 데이터셋으로 </a:t>
            </a:r>
            <a:r>
              <a:rPr lang="en" altLang="ko-KR" dirty="0"/>
              <a:t>Fine-tuning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더 작은 모델로 </a:t>
            </a:r>
            <a:r>
              <a:rPr lang="en" altLang="ko-KR" dirty="0"/>
              <a:t>FPS </a:t>
            </a:r>
            <a:r>
              <a:rPr lang="ko-KR" altLang="en-US" dirty="0"/>
              <a:t>향상 </a:t>
            </a:r>
            <a:r>
              <a:rPr lang="en-US" altLang="ko-KR" dirty="0"/>
              <a:t>(</a:t>
            </a:r>
            <a:r>
              <a:rPr lang="en" altLang="ko-KR" dirty="0"/>
              <a:t>YOLOv11n)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특정 클래스 정확도 개선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ko-KR" altLang="en-US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인프라 확장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Edge </a:t>
            </a:r>
            <a:r>
              <a:rPr lang="ko-KR" altLang="en-US" dirty="0"/>
              <a:t>디바이스 배포 </a:t>
            </a:r>
            <a:r>
              <a:rPr lang="en-US" altLang="ko-KR" dirty="0"/>
              <a:t>(</a:t>
            </a:r>
            <a:r>
              <a:rPr lang="en" altLang="ko-KR" dirty="0"/>
              <a:t>Jetson, </a:t>
            </a:r>
            <a:r>
              <a:rPr lang="en" altLang="ko-KR" dirty="0" err="1"/>
              <a:t>RaspberryPi</a:t>
            </a:r>
            <a:r>
              <a:rPr lang="en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클라우드 연동 </a:t>
            </a:r>
            <a:r>
              <a:rPr lang="en-US" altLang="ko-KR" dirty="0"/>
              <a:t>(</a:t>
            </a:r>
            <a:r>
              <a:rPr lang="ko-KR" altLang="en-US" dirty="0"/>
              <a:t>데이터 백업</a:t>
            </a:r>
            <a:r>
              <a:rPr lang="en-US" altLang="ko-KR" dirty="0"/>
              <a:t>, </a:t>
            </a:r>
            <a:r>
              <a:rPr lang="ko-KR" altLang="en-US" dirty="0"/>
              <a:t>원격 모니터링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Docker </a:t>
            </a:r>
            <a:r>
              <a:rPr lang="ko-KR" altLang="en-US" dirty="0"/>
              <a:t>컨테이너화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기술 스펙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하드웨어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NPU: Rebellions ATOM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GPU: NVIDIA (Display </a:t>
            </a:r>
            <a:r>
              <a:rPr lang="ko-KR" altLang="en-US" dirty="0"/>
              <a:t>렌더링</a:t>
            </a:r>
            <a:r>
              <a:rPr lang="en-US" altLang="ko-KR" dirty="0"/>
              <a:t>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Camera: USB Camera (960x540 @ 30FPS)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소프트웨어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OS: Linux (Ubuntu 20.04+)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Python: 3.8+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프레임워크</a:t>
            </a:r>
            <a:r>
              <a:rPr lang="en-US" altLang="ko-KR" dirty="0"/>
              <a:t>: </a:t>
            </a:r>
            <a:r>
              <a:rPr lang="en" altLang="ko-KR" dirty="0"/>
              <a:t>Flask, OpenCV, NumPy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AI: Rebellions SDK, RBLN Runtime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모델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아키텍처</a:t>
            </a:r>
            <a:r>
              <a:rPr lang="en-US" altLang="ko-KR" dirty="0"/>
              <a:t>: </a:t>
            </a:r>
            <a:r>
              <a:rPr lang="en" altLang="ko-KR" dirty="0"/>
              <a:t>YOLOv11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입력</a:t>
            </a:r>
            <a:r>
              <a:rPr lang="en-US" altLang="ko-KR" dirty="0"/>
              <a:t>: 800</a:t>
            </a:r>
            <a:r>
              <a:rPr lang="en" altLang="ko-KR" dirty="0"/>
              <a:t>x800 RGB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클래스</a:t>
            </a:r>
            <a:r>
              <a:rPr lang="en-US" altLang="ko-KR" dirty="0"/>
              <a:t>: 9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화재</a:t>
            </a:r>
            <a:r>
              <a:rPr lang="en-US" altLang="ko-KR" dirty="0"/>
              <a:t>, </a:t>
            </a:r>
            <a:r>
              <a:rPr lang="ko-KR" altLang="en-US" dirty="0"/>
              <a:t>연기</a:t>
            </a:r>
            <a:r>
              <a:rPr lang="en-US" altLang="ko-KR" dirty="0"/>
              <a:t>, </a:t>
            </a:r>
            <a:r>
              <a:rPr lang="ko-KR" altLang="en-US" dirty="0"/>
              <a:t>사람</a:t>
            </a:r>
            <a:r>
              <a:rPr lang="en-US" altLang="ko-KR" dirty="0"/>
              <a:t>, </a:t>
            </a:r>
            <a:r>
              <a:rPr lang="ko-KR" altLang="en-US" dirty="0"/>
              <a:t>안전장비 등</a:t>
            </a:r>
            <a:r>
              <a:rPr lang="en-US" altLang="ko-KR" dirty="0"/>
              <a:t>)</a:t>
            </a:r>
          </a:p>
          <a:p>
            <a:pPr>
              <a:spcAft>
                <a:spcPts val="800"/>
              </a:spcAft>
              <a:defRPr sz="1200">
                <a:solidFill>
                  <a:srgbClr val="000000"/>
                </a:solidFill>
              </a:defRPr>
            </a:pPr>
            <a:endParaRPr lang="en-US" altLang="ko-KR" dirty="0"/>
          </a:p>
          <a:p>
            <a:pPr>
              <a:spcAft>
                <a:spcPts val="800"/>
              </a:spcAft>
              <a:defRPr sz="2000" b="1">
                <a:solidFill>
                  <a:srgbClr val="000000"/>
                </a:solidFill>
              </a:defRPr>
            </a:pPr>
            <a:r>
              <a:rPr lang="ko-KR" altLang="en-US" dirty="0"/>
              <a:t>성능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FPS: 20-25</a:t>
            </a:r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지연시간</a:t>
            </a:r>
            <a:r>
              <a:rPr lang="en-US" altLang="ko-KR" dirty="0"/>
              <a:t>: ~50</a:t>
            </a:r>
            <a:r>
              <a:rPr lang="en" altLang="ko-KR" dirty="0" err="1"/>
              <a:t>ms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en" altLang="ko-KR" dirty="0"/>
              <a:t>NPU </a:t>
            </a:r>
            <a:r>
              <a:rPr lang="ko-KR" altLang="en-US" dirty="0"/>
              <a:t>추론</a:t>
            </a:r>
            <a:r>
              <a:rPr lang="en-US" altLang="ko-KR" dirty="0"/>
              <a:t>: 3-5</a:t>
            </a:r>
            <a:r>
              <a:rPr lang="en" altLang="ko-KR" dirty="0" err="1"/>
              <a:t>ms</a:t>
            </a:r>
            <a:endParaRPr lang="en" altLang="ko-KR" dirty="0"/>
          </a:p>
          <a:p>
            <a:pPr lvl="1"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rPr lang="ko-KR" altLang="en-US" dirty="0"/>
              <a:t>정확도</a:t>
            </a:r>
            <a:r>
              <a:rPr lang="en-US" altLang="ko-KR" dirty="0"/>
              <a:t>: </a:t>
            </a:r>
            <a:r>
              <a:rPr lang="en" altLang="ko-KR" dirty="0"/>
              <a:t>Confidence threshold 0.25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KEPCO 화재 및 안전 감지 시스템</a:t>
            </a:r>
          </a:p>
          <a:p>
            <a:pPr algn="ctr">
              <a:defRPr sz="2000">
                <a:solidFill>
                  <a:srgbClr val="999999"/>
                </a:solidFill>
              </a:defRPr>
            </a:pPr>
            <a:r>
              <a:t>Powered by Rebellions NPU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1206</Words>
  <Application>Microsoft Macintosh PowerPoint</Application>
  <PresentationFormat>화면 슬라이드 쇼(4:3)</PresentationFormat>
  <Paragraphs>243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KEPCO 화재 및 안전 감지 시스템</vt:lpstr>
      <vt:lpstr>시스템 개요</vt:lpstr>
      <vt:lpstr>PowerPoint 프레젠테이션</vt:lpstr>
      <vt:lpstr>GPU &amp; NPU 역할 분담</vt:lpstr>
      <vt:lpstr>데이터 처리 파이프라인</vt:lpstr>
      <vt:lpstr>후처리 및 시각화</vt:lpstr>
      <vt:lpstr>탐지 클래스 (9 Classes)</vt:lpstr>
      <vt:lpstr>성능 지표 및 최적화</vt:lpstr>
      <vt:lpstr>소프트웨어 스택</vt:lpstr>
      <vt:lpstr>주요 기능 및 특징</vt:lpstr>
      <vt:lpstr>PowerPoint 프레젠테이션</vt:lpstr>
      <vt:lpstr>API 엔드포인트</vt:lpstr>
      <vt:lpstr>배포 및 운영</vt:lpstr>
      <vt:lpstr>향후 개선 및 확장 방향</vt:lpstr>
      <vt:lpstr>기술 스펙 요약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Minseo Kim</cp:lastModifiedBy>
  <cp:revision>10</cp:revision>
  <dcterms:created xsi:type="dcterms:W3CDTF">2013-01-27T09:14:16Z</dcterms:created>
  <dcterms:modified xsi:type="dcterms:W3CDTF">2025-10-22T09:51:09Z</dcterms:modified>
  <cp:category/>
</cp:coreProperties>
</file>