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3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rPr dirty="0"/>
              <a:t>YOLO Inference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0766" y="886968"/>
            <a:ext cx="3595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4FFDA"/>
                </a:solidFill>
              </a:defRPr>
            </a:pPr>
            <a:r>
              <a:rPr dirty="0"/>
              <a:t>Powered by Rebellions ATOM</a:t>
            </a:r>
            <a:r>
              <a:rPr lang="en-US" dirty="0"/>
              <a:t>-Max</a:t>
            </a:r>
            <a:r>
              <a:rPr dirty="0"/>
              <a:t> NPU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5360" y="1517756"/>
            <a:ext cx="2148833" cy="2011676"/>
          </a:xfrm>
          <a:prstGeom prst="roundRect">
            <a:avLst/>
          </a:prstGeom>
          <a:solidFill>
            <a:srgbClr val="23283A"/>
          </a:solidFill>
          <a:ln w="25400"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5354" y="1474173"/>
            <a:ext cx="2148840" cy="457200"/>
          </a:xfrm>
          <a:prstGeom prst="roundRect">
            <a:avLst/>
          </a:prstGeom>
          <a:solidFill>
            <a:srgbClr val="2D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rPr dirty="0"/>
              <a:t>Input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520" y="2075499"/>
            <a:ext cx="1874520" cy="548637"/>
          </a:xfrm>
          <a:prstGeom prst="roundRect">
            <a:avLst/>
          </a:prstGeom>
          <a:solidFill>
            <a:srgbClr val="2D3548"/>
          </a:solidFill>
          <a:ln w="12700">
            <a:solidFill>
              <a:srgbClr val="3D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0E0E0"/>
                </a:solidFill>
              </a:defRPr>
            </a:pPr>
            <a:r>
              <a:rPr dirty="0"/>
              <a:t>USB/Built-in Camera</a:t>
            </a:r>
          </a:p>
          <a:p>
            <a:pPr algn="ctr">
              <a:defRPr sz="1200">
                <a:solidFill>
                  <a:srgbClr val="A0A0A0"/>
                </a:solidFill>
              </a:defRPr>
            </a:pPr>
            <a:r>
              <a:rPr dirty="0"/>
              <a:t>960x540 @ 30 FPS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520" y="2777104"/>
            <a:ext cx="1874520" cy="548640"/>
          </a:xfrm>
          <a:prstGeom prst="roundRect">
            <a:avLst/>
          </a:prstGeom>
          <a:solidFill>
            <a:srgbClr val="2D3548"/>
          </a:solidFill>
          <a:ln w="12700">
            <a:solidFill>
              <a:srgbClr val="3D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64FFDA"/>
                </a:solidFill>
              </a:defRPr>
            </a:pPr>
            <a:r>
              <a:rPr dirty="0"/>
              <a:t>Format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MJPEG Stream</a:t>
            </a:r>
          </a:p>
        </p:txBody>
      </p:sp>
      <p:cxnSp>
        <p:nvCxnSpPr>
          <p:cNvPr id="8" name="Connector 7"/>
          <p:cNvCxnSpPr>
            <a:cxnSpLocks/>
            <a:stCxn id="4" idx="3"/>
            <a:endCxn id="10" idx="1"/>
          </p:cNvCxnSpPr>
          <p:nvPr/>
        </p:nvCxnSpPr>
        <p:spPr>
          <a:xfrm>
            <a:off x="2844193" y="2523594"/>
            <a:ext cx="889975" cy="2"/>
          </a:xfrm>
          <a:prstGeom prst="line">
            <a:avLst/>
          </a:prstGeom>
          <a:ln w="38100">
            <a:solidFill>
              <a:srgbClr val="64F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69936" y="2188053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FFDA"/>
                </a:solidFill>
              </a:defRPr>
            </a:pPr>
            <a:r>
              <a:rPr dirty="0"/>
              <a:t>Frame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34168" y="1517756"/>
            <a:ext cx="2514579" cy="2011680"/>
          </a:xfrm>
          <a:prstGeom prst="roundRect">
            <a:avLst/>
          </a:prstGeom>
          <a:solidFill>
            <a:srgbClr val="23283A"/>
          </a:solidFill>
          <a:ln w="25400"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3734168" y="1495780"/>
            <a:ext cx="2514585" cy="457200"/>
          </a:xfrm>
          <a:prstGeom prst="roundRect">
            <a:avLst/>
          </a:prstGeom>
          <a:solidFill>
            <a:srgbClr val="2D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en-US" dirty="0"/>
              <a:t>   </a:t>
            </a:r>
            <a:r>
              <a:rPr dirty="0"/>
              <a:t>Preprocessing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3758" y="1643412"/>
            <a:ext cx="534817" cy="188347"/>
          </a:xfrm>
          <a:prstGeom prst="roundRect">
            <a:avLst/>
          </a:prstGeom>
          <a:solidFill>
            <a:srgbClr val="119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defRPr sz="1000" b="1">
                <a:solidFill>
                  <a:srgbClr val="11998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17038" y="2131218"/>
            <a:ext cx="2148840" cy="1239222"/>
          </a:xfrm>
          <a:prstGeom prst="roundRect">
            <a:avLst/>
          </a:prstGeom>
          <a:solidFill>
            <a:srgbClr val="2D3548"/>
          </a:solidFill>
          <a:ln w="12700">
            <a:solidFill>
              <a:srgbClr val="3D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lang="en-US" altLang="ko-KR" dirty="0"/>
              <a:t>•</a:t>
            </a:r>
            <a:r>
              <a:rPr lang="ko-KR" altLang="en-US" dirty="0"/>
              <a:t> </a:t>
            </a:r>
            <a:r>
              <a:rPr dirty="0"/>
              <a:t>Resize: 960×540 → 800×800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Letterbox padding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BGR → RGB conversion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Normalize (0-255 → 0-1)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Transpose (HWC → CHW)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1363" y="2229557"/>
            <a:ext cx="82614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FFDA"/>
                </a:solidFill>
              </a:defRPr>
            </a:pPr>
            <a:r>
              <a:rPr dirty="0"/>
              <a:t>Tensor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79467" y="1541994"/>
            <a:ext cx="3127676" cy="2011680"/>
          </a:xfrm>
          <a:prstGeom prst="roundRect">
            <a:avLst/>
          </a:prstGeom>
          <a:solidFill>
            <a:srgbClr val="23283A"/>
          </a:solidFill>
          <a:ln w="25400"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079465" y="1517021"/>
            <a:ext cx="3146929" cy="457200"/>
          </a:xfrm>
          <a:prstGeom prst="roundRect">
            <a:avLst/>
          </a:prstGeom>
          <a:solidFill>
            <a:srgbClr val="2D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rPr lang="en-US" altLang="en-US" dirty="0"/>
              <a:t> </a:t>
            </a:r>
            <a:r>
              <a:rPr lang="en-US" dirty="0"/>
              <a:t>    </a:t>
            </a:r>
            <a:r>
              <a:rPr dirty="0"/>
              <a:t>NPU Inference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31303" y="1627411"/>
            <a:ext cx="913524" cy="274320"/>
          </a:xfrm>
          <a:prstGeom prst="roundRect">
            <a:avLst/>
          </a:prstGeom>
          <a:solidFill>
            <a:srgbClr val="6A1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rPr dirty="0"/>
              <a:t>RBLN NPU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8397" y="2076246"/>
            <a:ext cx="2769064" cy="694792"/>
          </a:xfrm>
          <a:prstGeom prst="roundRect">
            <a:avLst/>
          </a:prstGeom>
          <a:solidFill>
            <a:srgbClr val="2D3548"/>
          </a:solidFill>
          <a:ln w="12700">
            <a:solidFill>
              <a:srgbClr val="3D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Model: YOLOv11</a:t>
            </a:r>
          </a:p>
          <a:p>
            <a:pPr algn="ctr">
              <a:defRPr sz="1100">
                <a:solidFill>
                  <a:srgbClr val="A0A0A0"/>
                </a:solidFill>
              </a:defRPr>
            </a:pPr>
            <a:r>
              <a:rPr dirty="0"/>
              <a:t>Input: 1×3×800×800 (NCHW)</a:t>
            </a:r>
          </a:p>
          <a:p>
            <a:pPr algn="ctr">
              <a:defRPr sz="1100">
                <a:solidFill>
                  <a:srgbClr val="A0A0A0"/>
                </a:solidFill>
              </a:defRPr>
            </a:pPr>
            <a:r>
              <a:rPr dirty="0"/>
              <a:t>Format: .</a:t>
            </a:r>
            <a:r>
              <a:rPr dirty="0" err="1"/>
              <a:t>rbln</a:t>
            </a:r>
            <a:r>
              <a:rPr dirty="0"/>
              <a:t> compiled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8397" y="2899661"/>
            <a:ext cx="1327978" cy="470044"/>
          </a:xfrm>
          <a:prstGeom prst="roundRect">
            <a:avLst/>
          </a:prstGeom>
          <a:solidFill>
            <a:srgbClr val="2D3548"/>
          </a:solidFill>
          <a:ln w="12700">
            <a:solidFill>
              <a:srgbClr val="3D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4FFDA"/>
                </a:solidFill>
              </a:defRPr>
            </a:pPr>
            <a:r>
              <a:rPr dirty="0"/>
              <a:t>Latency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/>
              <a:t>3-5ms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8378" y="2902002"/>
            <a:ext cx="1327978" cy="470044"/>
          </a:xfrm>
          <a:prstGeom prst="roundRect">
            <a:avLst/>
          </a:prstGeom>
          <a:solidFill>
            <a:srgbClr val="2D3548"/>
          </a:solidFill>
          <a:ln w="12700">
            <a:solidFill>
              <a:srgbClr val="3D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4FFDA"/>
                </a:solidFill>
              </a:defRPr>
            </a:pPr>
            <a:r>
              <a:rPr dirty="0"/>
              <a:t>Utilization</a:t>
            </a: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en-US" dirty="0"/>
              <a:t>10</a:t>
            </a:r>
            <a:r>
              <a:rPr dirty="0"/>
              <a:t>-</a:t>
            </a:r>
            <a:r>
              <a:rPr lang="en-US" dirty="0"/>
              <a:t>25</a:t>
            </a:r>
            <a:r>
              <a:rPr dirty="0"/>
              <a:t>%</a:t>
            </a:r>
          </a:p>
        </p:txBody>
      </p:sp>
      <p:cxnSp>
        <p:nvCxnSpPr>
          <p:cNvPr id="22" name="Connector 21"/>
          <p:cNvCxnSpPr>
            <a:cxnSpLocks/>
            <a:stCxn id="16" idx="2"/>
            <a:endCxn id="25" idx="0"/>
          </p:cNvCxnSpPr>
          <p:nvPr/>
        </p:nvCxnSpPr>
        <p:spPr>
          <a:xfrm flipH="1">
            <a:off x="7275095" y="3553674"/>
            <a:ext cx="1368210" cy="806577"/>
          </a:xfrm>
          <a:prstGeom prst="line">
            <a:avLst/>
          </a:prstGeom>
          <a:ln w="38100">
            <a:solidFill>
              <a:srgbClr val="64F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47509" y="3779178"/>
            <a:ext cx="7772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FFDA"/>
                </a:solidFill>
              </a:defRPr>
            </a:pPr>
            <a:r>
              <a:rPr dirty="0"/>
              <a:t>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999" y="4392678"/>
            <a:ext cx="2358191" cy="2034139"/>
          </a:xfrm>
          <a:prstGeom prst="roundRect">
            <a:avLst/>
          </a:prstGeom>
          <a:solidFill>
            <a:srgbClr val="23283A"/>
          </a:solidFill>
          <a:ln w="25400"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096000" y="4360251"/>
            <a:ext cx="2358190" cy="457200"/>
          </a:xfrm>
          <a:prstGeom prst="roundRect">
            <a:avLst/>
          </a:prstGeom>
          <a:solidFill>
            <a:srgbClr val="2D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Postprocessing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1933" y="4503852"/>
            <a:ext cx="501372" cy="216314"/>
          </a:xfrm>
          <a:prstGeom prst="roundRect">
            <a:avLst/>
          </a:prstGeom>
          <a:solidFill>
            <a:srgbClr val="F09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defRPr sz="1000" b="1">
                <a:solidFill>
                  <a:srgbClr val="F093FB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CPU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3478" y="5062465"/>
            <a:ext cx="2127069" cy="1115551"/>
          </a:xfrm>
          <a:prstGeom prst="roundRect">
            <a:avLst/>
          </a:prstGeom>
          <a:solidFill>
            <a:srgbClr val="2D3548"/>
          </a:solidFill>
          <a:ln w="12700">
            <a:solidFill>
              <a:srgbClr val="3D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NMS (Non-Max Suppression)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Confidence filter (&gt;0.25)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Bounding box transform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Class-wise extraction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Detection </a:t>
            </a:r>
            <a:r>
              <a:rPr lang="en" dirty="0"/>
              <a:t>parsing</a:t>
            </a:r>
            <a:endParaRPr dirty="0"/>
          </a:p>
        </p:txBody>
      </p:sp>
      <p:cxnSp>
        <p:nvCxnSpPr>
          <p:cNvPr id="28" name="Connector 27"/>
          <p:cNvCxnSpPr>
            <a:cxnSpLocks/>
            <a:stCxn id="24" idx="3"/>
            <a:endCxn id="30" idx="1"/>
          </p:cNvCxnSpPr>
          <p:nvPr/>
        </p:nvCxnSpPr>
        <p:spPr>
          <a:xfrm flipV="1">
            <a:off x="8454190" y="5384501"/>
            <a:ext cx="717424" cy="25247"/>
          </a:xfrm>
          <a:prstGeom prst="line">
            <a:avLst/>
          </a:prstGeom>
          <a:ln w="38100">
            <a:solidFill>
              <a:srgbClr val="64F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98758" y="5068059"/>
            <a:ext cx="6767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FFDA"/>
                </a:solidFill>
              </a:defRPr>
            </a:pPr>
            <a:r>
              <a:rPr dirty="0"/>
              <a:t>Results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71614" y="4342185"/>
            <a:ext cx="2552300" cy="2084632"/>
          </a:xfrm>
          <a:prstGeom prst="roundRect">
            <a:avLst/>
          </a:prstGeom>
          <a:solidFill>
            <a:srgbClr val="23283A"/>
          </a:solidFill>
          <a:ln w="25400"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171613" y="4314741"/>
            <a:ext cx="2552299" cy="457200"/>
          </a:xfrm>
          <a:prstGeom prst="roundRect">
            <a:avLst/>
          </a:prstGeom>
          <a:solidFill>
            <a:srgbClr val="2D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Output Display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341552" y="4455332"/>
            <a:ext cx="517166" cy="221289"/>
          </a:xfrm>
          <a:prstGeom prst="round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bIns="73152" rtlCol="0" anchor="ctr"/>
          <a:lstStyle/>
          <a:p>
            <a:pPr algn="ctr">
              <a:defRPr sz="1000" b="1">
                <a:solidFill>
                  <a:srgbClr val="4FACFE"/>
                </a:solidFill>
                <a:latin typeface="Arial"/>
              </a:defRPr>
            </a:pPr>
            <a:r>
              <a:rPr dirty="0">
                <a:solidFill>
                  <a:schemeClr val="bg1"/>
                </a:solidFill>
              </a:rPr>
              <a:t>GPU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52367" y="4923048"/>
            <a:ext cx="2221030" cy="703171"/>
          </a:xfrm>
          <a:prstGeom prst="roundRect">
            <a:avLst/>
          </a:prstGeom>
          <a:solidFill>
            <a:srgbClr val="2D3548"/>
          </a:solidFill>
          <a:ln w="12700">
            <a:solidFill>
              <a:srgbClr val="3D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Bounding box rendering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Class/confidence overlay</a:t>
            </a:r>
          </a:p>
          <a:p>
            <a:pPr>
              <a:spcAft>
                <a:spcPts val="200"/>
              </a:spcAft>
              <a:defRPr sz="1100">
                <a:solidFill>
                  <a:srgbClr val="E0E0E0"/>
                </a:solidFill>
              </a:defRPr>
            </a:pPr>
            <a:r>
              <a:rPr dirty="0"/>
              <a:t>• JPEG encoding (Q:90)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52367" y="5748916"/>
            <a:ext cx="2221030" cy="501935"/>
          </a:xfrm>
          <a:prstGeom prst="roundRect">
            <a:avLst/>
          </a:prstGeom>
          <a:solidFill>
            <a:srgbClr val="2D3548"/>
          </a:solidFill>
          <a:ln w="12700">
            <a:solidFill>
              <a:srgbClr val="3D4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64FFDA"/>
                </a:solidFill>
              </a:defRPr>
            </a:pPr>
            <a:r>
              <a:rPr dirty="0"/>
              <a:t>Web Streaming</a:t>
            </a:r>
          </a:p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MJPEG (Flask) @ 20-25 FPS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5360" y="3908035"/>
            <a:ext cx="4943429" cy="1042456"/>
          </a:xfrm>
          <a:prstGeom prst="roundRect">
            <a:avLst/>
          </a:prstGeom>
          <a:solidFill>
            <a:srgbClr val="23283A"/>
          </a:solidFill>
          <a:ln w="25400"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95359" y="3908035"/>
            <a:ext cx="4943429" cy="365760"/>
          </a:xfrm>
          <a:prstGeom prst="roundRect">
            <a:avLst/>
          </a:prstGeom>
          <a:solidFill>
            <a:srgbClr val="2D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dirty="0"/>
              <a:t>Pipeline Performance 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8240" y="4365235"/>
            <a:ext cx="237743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0A0A0"/>
                </a:solidFill>
              </a:defRPr>
            </a:pPr>
            <a:r>
              <a:rPr dirty="0"/>
              <a:t>Total Throughput:  </a:t>
            </a:r>
            <a:r>
              <a:rPr sz="1500" b="1" dirty="0">
                <a:solidFill>
                  <a:srgbClr val="64FFDA"/>
                </a:solidFill>
              </a:rPr>
              <a:t>20-25 FPS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55680" y="4365235"/>
            <a:ext cx="177163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0A0A0"/>
                </a:solidFill>
              </a:defRPr>
            </a:pPr>
            <a:r>
              <a:rPr dirty="0"/>
              <a:t>NPU Inference:  </a:t>
            </a:r>
            <a:r>
              <a:rPr sz="1500" b="1" dirty="0">
                <a:solidFill>
                  <a:srgbClr val="6A11CB"/>
                </a:solidFill>
              </a:rPr>
              <a:t>3-5ms</a:t>
            </a:r>
            <a:endParaRPr lang="ko-KR" altLang="en-US" sz="1500" b="1" dirty="0">
              <a:solidFill>
                <a:srgbClr val="6A11CB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95360" y="5179990"/>
            <a:ext cx="4943440" cy="1042457"/>
          </a:xfrm>
          <a:prstGeom prst="roundRect">
            <a:avLst/>
          </a:prstGeom>
          <a:solidFill>
            <a:srgbClr val="23283A"/>
          </a:solidFill>
          <a:ln w="25400">
            <a:solidFill>
              <a:srgbClr val="2D31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95360" y="5179991"/>
            <a:ext cx="4943440" cy="365760"/>
          </a:xfrm>
          <a:prstGeom prst="roundRect">
            <a:avLst/>
          </a:prstGeom>
          <a:solidFill>
            <a:srgbClr val="2D3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Detection Classes (9 Classes)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851" y="5687320"/>
            <a:ext cx="47605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0E0E0"/>
                </a:solidFill>
              </a:defRPr>
            </a:pPr>
            <a:r>
              <a:rPr dirty="0"/>
              <a:t>🔥 Fire &amp; Smoke (4) • 👤 Person, Head, Falling (3) • ⛑️ Helmet, Ladder (2)</a:t>
            </a:r>
          </a:p>
          <a:p>
            <a:pPr>
              <a:defRPr sz="1100">
                <a:solidFill>
                  <a:srgbClr val="A0A0A0"/>
                </a:solidFill>
              </a:defRPr>
            </a:pPr>
            <a:r>
              <a:rPr dirty="0"/>
              <a:t>Confidence Threshold: 0.25 | IOU Threshold: 0.45 | Model: YOLOv11 (.</a:t>
            </a:r>
            <a:r>
              <a:rPr dirty="0" err="1"/>
              <a:t>rbln</a:t>
            </a:r>
            <a:r>
              <a:rPr dirty="0"/>
              <a:t>)</a:t>
            </a:r>
          </a:p>
        </p:txBody>
      </p:sp>
      <p:cxnSp>
        <p:nvCxnSpPr>
          <p:cNvPr id="91" name="Connector 7">
            <a:extLst>
              <a:ext uri="{FF2B5EF4-FFF2-40B4-BE49-F238E27FC236}">
                <a16:creationId xmlns:a16="http://schemas.microsoft.com/office/drawing/2014/main" id="{6F0770D7-BE92-89BB-46B1-E2335C40F0CD}"/>
              </a:ext>
            </a:extLst>
          </p:cNvPr>
          <p:cNvCxnSpPr>
            <a:cxnSpLocks/>
          </p:cNvCxnSpPr>
          <p:nvPr/>
        </p:nvCxnSpPr>
        <p:spPr>
          <a:xfrm>
            <a:off x="6236518" y="2523594"/>
            <a:ext cx="810991" cy="0"/>
          </a:xfrm>
          <a:prstGeom prst="line">
            <a:avLst/>
          </a:prstGeom>
          <a:ln w="38100">
            <a:solidFill>
              <a:srgbClr val="64F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197</Words>
  <Application>Microsoft Macintosh PowerPoint</Application>
  <PresentationFormat>와이드스크린</PresentationFormat>
  <Paragraphs>47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Minseo Kim</cp:lastModifiedBy>
  <cp:revision>10</cp:revision>
  <dcterms:created xsi:type="dcterms:W3CDTF">2013-01-27T09:14:16Z</dcterms:created>
  <dcterms:modified xsi:type="dcterms:W3CDTF">2025-10-27T10:14:51Z</dcterms:modified>
  <cp:category/>
</cp:coreProperties>
</file>